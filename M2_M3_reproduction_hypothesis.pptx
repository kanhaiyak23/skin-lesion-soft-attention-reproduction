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a2c15e7-7f44-9f68-db54-d8644c317646}">
          <p14:sldIdLst>
            <p14:sldId id="256"/>
            <p14:sldId id="257"/>
          </p14:sldIdLst>
        </p14:section>
        <p14:section name="Milestone 2: Reproduction" id="{c88900d5-b702-1c1f-60d4-897dd8e1d75d}">
          <p14:sldIdLst>
            <p14:sldId id="258"/>
            <p14:sldId id="259"/>
            <p14:sldId id="260"/>
            <p14:sldId id="261"/>
          </p14:sldIdLst>
        </p14:section>
        <p14:section name="Milestone 3: Hypothesis" id="{8db18c88-07db-03b4-a6a0-1c8b238e8c7c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+mn-lt"/>
              </a:rPr>
              <a:t>Recall (sensitivity) on the 828-image test set; n per class in brackets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Paper: IRv2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akiec (23)</c:v>
                  </c:pt>
                  <c:pt idx="1">
                    <c:v>bcc (26)</c:v>
                  </c:pt>
                  <c:pt idx="2">
                    <c:v>bkl (66)</c:v>
                  </c:pt>
                  <c:pt idx="3">
                    <c:v>df (6)</c:v>
                  </c:pt>
                  <c:pt idx="4">
                    <c:v>mel (34)</c:v>
                  </c:pt>
                  <c:pt idx="5">
                    <c:v>nv (663)</c:v>
                  </c:pt>
                  <c:pt idx="6">
                    <c:v>vasc (10)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</c:v>
                </c:pt>
                <c:pt idx="1">
                  <c:v>0.85</c:v>
                </c:pt>
                <c:pt idx="2">
                  <c:v>0.44</c:v>
                </c:pt>
                <c:pt idx="3">
                  <c:v>0.33</c:v>
                </c:pt>
                <c:pt idx="4">
                  <c:v>0.56</c:v>
                </c:pt>
                <c:pt idx="5">
                  <c:v>0.99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Ours: IRv2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akiec (23)</c:v>
                  </c:pt>
                  <c:pt idx="1">
                    <c:v>bcc (26)</c:v>
                  </c:pt>
                  <c:pt idx="2">
                    <c:v>bkl (66)</c:v>
                  </c:pt>
                  <c:pt idx="3">
                    <c:v>df (6)</c:v>
                  </c:pt>
                  <c:pt idx="4">
                    <c:v>mel (34)</c:v>
                  </c:pt>
                  <c:pt idx="5">
                    <c:v>nv (663)</c:v>
                  </c:pt>
                  <c:pt idx="6">
                    <c:v>vasc (10)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0.522</c:v>
                </c:pt>
                <c:pt idx="1">
                  <c:v>0.846</c:v>
                </c:pt>
                <c:pt idx="2">
                  <c:v>0.606</c:v>
                </c:pt>
                <c:pt idx="3">
                  <c:v>0.833</c:v>
                </c:pt>
                <c:pt idx="4">
                  <c:v>0.441</c:v>
                </c:pt>
                <c:pt idx="5">
                  <c:v>0.989</c:v>
                </c:pt>
                <c:pt idx="6">
                  <c:v>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Ours: IRv2 + SA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akiec (23)</c:v>
                  </c:pt>
                  <c:pt idx="1">
                    <c:v>bcc (26)</c:v>
                  </c:pt>
                  <c:pt idx="2">
                    <c:v>bkl (66)</c:v>
                  </c:pt>
                  <c:pt idx="3">
                    <c:v>df (6)</c:v>
                  </c:pt>
                  <c:pt idx="4">
                    <c:v>mel (34)</c:v>
                  </c:pt>
                  <c:pt idx="5">
                    <c:v>nv (663)</c:v>
                  </c:pt>
                  <c:pt idx="6">
                    <c:v>vasc (10)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0.522</c:v>
                </c:pt>
                <c:pt idx="1">
                  <c:v>0.808</c:v>
                </c:pt>
                <c:pt idx="2">
                  <c:v>0.591</c:v>
                </c:pt>
                <c:pt idx="3">
                  <c:v>0.667</c:v>
                </c:pt>
                <c:pt idx="4">
                  <c:v>0.618</c:v>
                </c:pt>
                <c:pt idx="5">
                  <c:v>0.988</c:v>
                </c:pt>
                <c:pt idx="6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8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9D6CE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8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1B1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B1B"/>
                </a:solidFill>
                <a:latin typeface="+mn-lt"/>
              </a:rPr>
              <a:t>Most frequent errors, true → predicted (IRv2 baseline)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images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bkl → nv</c:v>
                  </c:pt>
                  <c:pt idx="1">
                    <c:v>mel → nv</c:v>
                  </c:pt>
                  <c:pt idx="2">
                    <c:v>mel → bkl</c:v>
                  </c:pt>
                  <c:pt idx="3">
                    <c:v>bkl → mel</c:v>
                  </c:pt>
                  <c:pt idx="4">
                    <c:v>nv → mel</c:v>
                  </c:pt>
                  <c:pt idx="5">
                    <c:v>akiec → nv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9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2: we reproduced the base paper. Milestone 3: our single-variable hypothesis, stated before coding. No clinical claims are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Navnit Naman (230085) · Kanhaiya Kumar (230062) · Newton School of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Reproducing Soft-Attention on HAM10000, and Our Hypothesis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2 &amp; 3 · Skin lesion / melanoma classification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Datta et al., Soft-Attention Improves Skin Cancer Classification Performance (iMIMIC @ MICCAI 2021)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Navnit Naman (230085) · Kanhaiya Kumar (230062)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Introduction: why melanoma, why HAM10000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stakes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is a small share of skin cancers but causes most skin-cancer deaths. Caught early, it is highly curable.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86.6%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069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melanoma sensitivity of 58 dermatologists (Haenssle 2018)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338218" y="137160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5544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0116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HAM10000: 10,015 dermatoscopic images, 7 classes, two centres (Austria, Australia).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2461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4069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images are nevi, so accuracy alone is misleading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127797" y="1371600"/>
            <a:ext cx="3515258" cy="356616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02117" y="155448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01168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7,470 distinct lesions; splitting by image leaks the same mole into train and test.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461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2,545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8402117" y="4069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views that must be split by lesion_id</a:t>
            </a:r>
            <a:endParaRPr lang="en-US" sz="1200" dirty="0"/>
          </a:p>
        </p:txBody>
      </p:sp>
      <p:sp>
        <p:nvSpPr>
          <p:cNvPr id="18" name="why-callout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D3E2CC"/>
          </a:solidFill>
          <a:ln w="9525">
            <a:solidFill>
              <a:srgbClr val="D3E2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goal: 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one published result faithfully, find where it fails, then test ONE change, with its effect predicted before we code it. No clinical claims.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matched the authors' pipeline exactly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9,187 / 828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images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paper: 9,187 / 828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3390824" y="137160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3704" y="150876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51,699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2402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after augmentation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8803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authors' log: 51,699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6233008" y="137160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150876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47,550,631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22402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IRv2 baseline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8803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authors' summary: identical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9075191" y="1371600"/>
            <a:ext cx="256786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8071" y="150876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47,535,287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58071" y="22402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IRv2 + Soft-Attention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58071" y="28803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authors' summary: identical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kept exactly as in the official code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6908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= 15% of single-image lesions (no lesion in both train and test)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Inception-ResNet-v2 at 299×299, Adam lr 0.01 / ε 0.1, batch 16, up to 150 epochs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class weight ×5 (in the code, not stated in the paper)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also used as the validation set (as in the original)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657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Porting changes (TF 2.4 → TF 2.20 / Keras 3)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06908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ImageDataGenerator removed → same affine augmentation in OpenCV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Soft-Attention layer rewritten with tf ops, same computation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42 (the original split had none)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GPU, about 8 min/epoch, about 7 h per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reproduced; the Soft-Attention gain was not</a:t>
            </a:r>
            <a:endParaRPr lang="en-US" sz="3200" dirty="0"/>
          </a:p>
        </p:txBody>
      </p:sp>
      <p:graphicFrame>
        <p:nvGraphicFramePr>
          <p:cNvPr id="5" name="resul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234440"/>
                <a:gridCol w="1234440"/>
                <a:gridCol w="1143000"/>
                <a:gridCol w="1508760"/>
                <a:gridCol w="1508760"/>
                <a:gridCol w="1447495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 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 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IRv2+SA paper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IRv2+SA ours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(weighted), headline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(macro)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F4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(weighted)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Melanoma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 images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 image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values: Table 1/3 of the paper and the authors' notebook outputs. Ours: Kaggle runs, seed 42. Bootstrap 95% CI for weighted precision: IRv2 0.887–0.932, IRv2+SA 0.891–0.935.</a:t>
            </a:r>
            <a:endParaRPr lang="en-US" sz="1200" dirty="0"/>
          </a:p>
        </p:txBody>
      </p:sp>
      <p:sp>
        <p:nvSpPr>
          <p:cNvPr id="5" name="why-callout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D3E2CC"/>
          </a:solidFill>
          <a:ln w="9525">
            <a:solidFill>
              <a:srgbClr val="D3E2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0749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IRv2 baseline lands within ±0.01 of the paper. Attention adds +0.4 pts weighted precision for us, not +3.2: the two confidence intervals overlap almost completely.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recall: the misses are in the classes that matter</a:t>
            </a:r>
            <a:endParaRPr lang="en-US" sz="3200" dirty="0"/>
          </a:p>
        </p:txBody>
      </p:sp>
      <p:graphicFrame>
        <p:nvGraphicFramePr>
          <p:cNvPr id="3" name="recall-chart" descr=""/>
          <p:cNvGraphicFramePr/>
          <p:nvPr/>
        </p:nvGraphicFramePr>
        <p:xfrm>
          <a:off x="548640" y="128016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8549640" y="1371600"/>
            <a:ext cx="3093415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1508760"/>
            <a:ext cx="2636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34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331720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melanomas found by our reproduced baseline (recall 0.44). 9 were called nevus, 7 benign keratosis.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549640" y="3794760"/>
            <a:ext cx="3093415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78240" y="3931920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care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4343400"/>
            <a:ext cx="2636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df image = 16.7 recall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vasc image = 10 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95% interval overlaps the paper's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our numbers differ from the paper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4" name="cause-badg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49047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random test set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2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split has no seed: every run tests on different lesions (same class counts).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33008" y="132588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9" name="cause-badge"/>
          <p:cNvSpPr/>
          <p:nvPr/>
        </p:nvSpPr>
        <p:spPr>
          <a:xfrm>
            <a:off x="6461608" y="160020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6160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93128" y="149047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minority classes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93128" y="1920240"/>
            <a:ext cx="422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df and 10 vasc test images: a few images swing per-class recall by 10–50 points.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297180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4" name="cause-badge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13639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training, picked on test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66160"/>
            <a:ext cx="422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0.01 makes validation accuracy jump between epochs; the saved epoch is the best on the test set.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233008" y="2971800"/>
            <a:ext cx="54100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9" name="cause-badge"/>
          <p:cNvSpPr/>
          <p:nvPr/>
        </p:nvSpPr>
        <p:spPr>
          <a:xfrm>
            <a:off x="6461608" y="324612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93128" y="3136392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point, not skill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3566160"/>
            <a:ext cx="422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(threshold-free) matches: 0.978–0.981 vs 0.983–0.984. Only the argmax decision moved.</a:t>
            </a:r>
            <a:endParaRPr lang="en-US" sz="1400" dirty="0"/>
          </a:p>
        </p:txBody>
      </p:sp>
      <p:sp>
        <p:nvSpPr>
          <p:cNvPr id="23" name="why-callout"/>
          <p:cNvSpPr/>
          <p:nvPr/>
        </p:nvSpPr>
        <p:spPr>
          <a:xfrm>
            <a:off x="548640" y="475488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D3E2CC"/>
          </a:solidFill>
          <a:ln w="9525">
            <a:solidFill>
              <a:srgbClr val="D3E2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Evidence: 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runs of our baseline with the same code, data and seed found 24/34 and then 15/34 melanomas. A single run cannot confirm or refute a 3-point gain, so we will use several seeds.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reproduced baseline fails</a:t>
            </a:r>
            <a:endParaRPr lang="en-US" sz="3200" dirty="0"/>
          </a:p>
        </p:txBody>
      </p:sp>
      <p:graphicFrame>
        <p:nvGraphicFramePr>
          <p:cNvPr id="3" name="errors-chart" descr=""/>
          <p:cNvGraphicFramePr/>
          <p:nvPr/>
        </p:nvGraphicFramePr>
        <p:xfrm>
          <a:off x="548640" y="128016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"/>
          <p:cNvSpPr/>
          <p:nvPr/>
        </p:nvSpPr>
        <p:spPr>
          <a:xfrm>
            <a:off x="6949440" y="1371600"/>
            <a:ext cx="46936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78040" y="150876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Minority lesions are absorbed into nevus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1938528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of the top errors send bkl or mel into nv, the 80% majority class.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949440" y="2971800"/>
            <a:ext cx="46936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310896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set is memorised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3538728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0.98 (loss 0.08) vs test 0.92. Almost every training image is already 'easy'.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6949440" y="4572000"/>
            <a:ext cx="469361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78040" y="4709160"/>
            <a:ext cx="4236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is fine; the decision is not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5138928"/>
            <a:ext cx="4236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AUC 0.915, yet recall at argmax is 0.44.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hypothesis (stated before coding)</a:t>
            </a:r>
            <a:endParaRPr lang="en-US" sz="3200" dirty="0"/>
          </a:p>
        </p:txBody>
      </p:sp>
      <p:sp>
        <p:nvSpPr>
          <p:cNvPr id="3" name="hypothesis-box"/>
          <p:cNvSpPr/>
          <p:nvPr/>
        </p:nvSpPr>
        <p:spPr>
          <a:xfrm>
            <a:off x="548640" y="1325880"/>
            <a:ext cx="11094415" cy="1965960"/>
          </a:xfrm>
          <a:prstGeom prst="roundRect">
            <a:avLst>
              <a:gd name="adj" fmla="val 3721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103628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Replacing cross-entropy with focal loss (γ = 2) will raise melanoma recall and macro recall, because it down-weights the ~98% of training images the network already gets right and focuses learning on hard, confusable lesions (melanoma and benign keratosis that look like nevi).</a:t>
            </a:r>
            <a:endParaRPr lang="en-US" sz="2100" dirty="0"/>
          </a:p>
        </p:txBody>
      </p:sp>
      <p:graphicFrame>
        <p:nvGraphicFramePr>
          <p:cNvPr id="9" name="variabl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92608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(reproduced)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loss, γ = 2, α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else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IRv2, seed-42 split, 51,699 aug. images, Adam 0.01, mel ×5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863840" y="3566160"/>
            <a:ext cx="3779215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3675888"/>
            <a:ext cx="3322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should work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4069080"/>
            <a:ext cx="3322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image (p = 0.9): weight (1−p)² = 0.01, 100× smaller than in 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image (p = 0.3): keeps about half its loss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already balanced by oversampling, so the issue is easy vs hard, not frequency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57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the IRv2 baseline (not +SA): attention showed no measurable effect in our reproduction, so the simpler model isolates the loss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predict, and how we could be wrong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recall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0.44 →</a:t>
            </a:r>
            <a:endParaRPr lang="en-US" sz="16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F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0.50–0.60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to +5 of 34 found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390824" y="1325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3704" y="14630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18288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0.72 →</a:t>
            </a:r>
            <a:endParaRPr lang="en-US" sz="16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F4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0.74–0.77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8346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 to +0.05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33008" y="1325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14630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18288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0.909 →</a:t>
            </a:r>
            <a:endParaRPr lang="en-US" sz="1600" dirty="0"/>
          </a:p>
          <a:p>
            <a:pPr indent="0" marL="0">
              <a:buNone/>
            </a:pPr>
            <a:r>
              <a:rPr lang="en-US" sz="3000" b="1" dirty="0">
                <a:solidFill>
                  <a:srgbClr val="5A5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0.89–0.91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28346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or slightly down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9075191" y="1325880"/>
            <a:ext cx="256786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58071" y="146304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AUC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258071" y="1828800"/>
            <a:ext cx="2202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0.978 →</a:t>
            </a:r>
            <a:endParaRPr lang="en-US" sz="1600" dirty="0"/>
          </a:p>
          <a:p>
            <a:pPr indent="0" marL="0">
              <a:buNone/>
            </a:pPr>
            <a:r>
              <a:rPr lang="en-US" sz="3000" b="1" dirty="0">
                <a:solidFill>
                  <a:srgbClr val="5A5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0.978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58071" y="283464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unchanged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548640" y="379476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13632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reject the hypothesis if…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315968"/>
            <a:ext cx="495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melanoma recall over seeds is not above baseline mean + 1 std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 improves only through df / vasc (6 and 10 images)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rises only by trading away &gt; 0.02 weighted precision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233008" y="3794760"/>
            <a:ext cx="541004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1608" y="3913632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we already see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61608" y="4315968"/>
            <a:ext cx="495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Run-to-run noise (15 vs 24 melanomas) is as big as the effect, so we use 2–3 seeds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ε = 0.1 is not scale-invariant: smaller focal-loss gradients mean smaller steps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still the validation set, so we add one clean-protocol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 plan: change one thing, measure what moved</a:t>
            </a:r>
            <a:endParaRPr lang="en-US" sz="3200" dirty="0"/>
          </a:p>
        </p:txBody>
      </p:sp>
      <p:graphicFrame>
        <p:nvGraphicFramePr>
          <p:cNvPr id="11" name="abl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463040"/>
                <a:gridCol w="1463040"/>
                <a:gridCol w="1325880"/>
                <a:gridCol w="1280160"/>
                <a:gridCol w="1081735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Melanoma 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 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 + cross-entropy (reproduced)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3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 + focal loss γ =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42, 7, 2024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A5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0.50–0.60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A5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0.74–0.77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A5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0.89–0.91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A5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≈ 0.978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 + Soft-Attention (paper)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IRv2 + focal, clean protocol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548640" y="420624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297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 h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4297680"/>
            <a:ext cx="1549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 on a Kaggle T4 (≈ 53 epochs × 8 min)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38218" y="420624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66818" y="4297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runs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121298" y="4297680"/>
            <a:ext cx="1549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within Kaggle's ~30 GPU-hours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127797" y="4206240"/>
            <a:ext cx="351525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6C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4297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GPU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910877" y="4297680"/>
            <a:ext cx="1549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run, so BatchNorm behaves as in the paper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focal loss with seed 42 first (directly comparable), then extra seeds for both baseline and focal. Report mean ± std, per-class recall, confusion matrix, Grad-CAM failure cases.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585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M10000 Reproduction">
  <a:themeElements>
    <a:clrScheme name="HAM10000 Reproduction">
      <a:dk1>
        <a:srgbClr val="1B1B1B"/>
      </a:dk1>
      <a:lt1>
        <a:srgbClr val="FFFFFF"/>
      </a:lt1>
      <a:dk2>
        <a:srgbClr val="1F3A5F"/>
      </a:dk2>
      <a:lt2>
        <a:srgbClr val="F2F0EB"/>
      </a:lt2>
      <a:accent1>
        <a:srgbClr val="1F3A5F"/>
      </a:accent1>
      <a:accent2>
        <a:srgbClr val="EB6834"/>
      </a:accent2>
      <a:accent3>
        <a:srgbClr val="1BAF7A"/>
      </a:accent3>
      <a:accent4>
        <a:srgbClr val="2A78D6"/>
      </a:accent4>
      <a:accent5>
        <a:srgbClr val="D3E2CC"/>
      </a:accent5>
      <a:accent6>
        <a:srgbClr val="A33A3A"/>
      </a:accent6>
      <a:hlink>
        <a:srgbClr val="2A78D6"/>
      </a:hlink>
      <a:folHlink>
        <a:srgbClr val="1F3A5F"/>
      </a:folHlink>
    </a:clrScheme>
    <a:fontScheme name="HAM10000 Reproduc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Milestones 2-3: Reproduction and Hypothesis</dc:title>
  <dc:subject>PptxGenJS Presentation</dc:subject>
  <dc:creator>Navnit Naman, Kanhaiya Kumar</dc:creator>
  <cp:lastModifiedBy>Navnit Naman, Kanhaiya Kumar</cp:lastModifiedBy>
  <cp:revision>1</cp:revision>
  <dcterms:created xsi:type="dcterms:W3CDTF">2026-10-04T16:35:35Z</dcterms:created>
  <dcterms:modified xsi:type="dcterms:W3CDTF">2026-10-04T16:35:35Z</dcterms:modified>
</cp:coreProperties>
</file>